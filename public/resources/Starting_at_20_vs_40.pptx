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0380881624f98" /><Relationship Type="http://schemas.openxmlformats.org/officeDocument/2006/relationships/extended-properties" Target="/docProps/app.xml" Id="R2c286037b73d4dab" /><Relationship Type="http://schemas.openxmlformats.org/officeDocument/2006/relationships/officeDocument" Target="/ppt/presentation.xml" Id="Rd0441f774577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8a5a186d6347ba"/>
  </p:sldMasterIdLst>
  <p:notesMasterIdLst>
    <p:notesMasterId xmlns:r="http://schemas.openxmlformats.org/officeDocument/2006/relationships" r:id="R5d5b32110a084681"/>
  </p:notesMasterIdLst>
  <p:sldIdLst>
    <p:sldId xmlns:r="http://schemas.openxmlformats.org/officeDocument/2006/relationships" id="256" r:id="R14b7524751854a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ea4731ed8848bf" /><Relationship Type="http://schemas.openxmlformats.org/officeDocument/2006/relationships/slideMaster" Target="/ppt/slideMasters/slideMaster1.xml" Id="Rd08a5a186d6347ba" /><Relationship Type="http://schemas.openxmlformats.org/officeDocument/2006/relationships/notesMaster" Target="/ppt/notesMasters/notesMaster1.xml" Id="R5d5b32110a084681" /><Relationship Type="http://schemas.openxmlformats.org/officeDocument/2006/relationships/presProps" Target="/ppt/presProps.xml" Id="R084e1a07440d4709" /><Relationship Type="http://schemas.openxmlformats.org/officeDocument/2006/relationships/tableStyles" Target="/ppt/tableStyles.xml" Id="R3ab4fd8d490c4941" /><Relationship Type="http://schemas.openxmlformats.org/officeDocument/2006/relationships/slide" Target="/ppt/slides/slide1.xml" Id="R14b7524751854a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7cc57eedb0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73c82ffe7479c" /><Relationship Type="http://schemas.openxmlformats.org/officeDocument/2006/relationships/notesMaster" Target="/ppt/notesMasters/notesMaster1.xml" Id="R170615b371ef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If someone did not start at 20, does that mean starting at 40 cannot help? Point to the second column: in this pretend example, the original $1,000 becomes about $2,653. Starting earlier gives money more time, but the later starter still has 20 years. Explain that we chose 5% only to make a math example. Real investments go up and down, and people have different needs and amounts they can afford to set aside. This is not a prediction or a promise.</a:t>
            </a:r>
          </a:p>
          <a:p xmlns:a="http://schemas.openxmlformats.org/drawingml/2006/main">
            <a:r>
              <a:t>Calculation: one deposit with annual compounding, future value = 1000 × 1.05^years. At 40 years: $7,039.9887, rounded to $7,040. At 20 years: $2,653.2977, rounded to $2,653. No additional contributions or withdrawals.</a:t>
            </a:r>
          </a:p>
          <a:p xmlns:a="http://schemas.openxmlformats.org/drawingml/2006/main">
            <a:r>
              <a:t>Discussion: What would you say to someone who thinks they missed their chance to start?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eb485b01b4b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d54370ae44b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4cafc73964a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8a8c4eaf243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2f1182a041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5d15e5c3f45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6F330-B661-47E9-B2E1-A8DFDDC06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D4433A-03F6-4BE7-A7C9-68CC8FEB8A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D2628E-5F9A-4387-84F7-CA5DDC53E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F5E46-605B-4218-B9F6-AF63CF41B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4D1A36-7FE6-4E48-AA30-311E650E3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689A90-0583-4A25-9C17-AF1895BF9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D8BD3E-E6C6-4680-9895-022795FDA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2DC768-045B-4C30-8024-3EF4E572CE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27D031-E761-475A-8A0E-B6579B7B3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494E54-CC67-4FF8-B1B3-E0ED381BC6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1e5910b4224cdb" /><Relationship Type="http://schemas.openxmlformats.org/officeDocument/2006/relationships/slideLayout" Target="/ppt/slideLayouts/slideLayout1.xml" Id="R3437fb7ef96f48cc" /><Relationship Type="http://schemas.openxmlformats.org/officeDocument/2006/relationships/slideLayout" Target="/ppt/slideLayouts/slideLayout2.xml" Id="R03fccc8aa0744358" /><Relationship Type="http://schemas.openxmlformats.org/officeDocument/2006/relationships/slideLayout" Target="/ppt/slideLayouts/slideLayout3.xml" Id="R8cf90420f6a94387" /><Relationship Type="http://schemas.openxmlformats.org/officeDocument/2006/relationships/slideLayout" Target="/ppt/slideLayouts/slideLayout4.xml" Id="R874e4a56ea454ff7" /><Relationship Type="http://schemas.openxmlformats.org/officeDocument/2006/relationships/slideLayout" Target="/ppt/slideLayouts/slideLayout5.xml" Id="R6a9c6cab3e054a03" /><Relationship Type="http://schemas.openxmlformats.org/officeDocument/2006/relationships/slideLayout" Target="/ppt/slideLayouts/slideLayout6.xml" Id="Re2402cebbf4c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7fb7ef96f48cc"/>
    <p:sldLayoutId xmlns:r="http://schemas.openxmlformats.org/officeDocument/2006/relationships" id="2147483650" r:id="R03fccc8aa0744358"/>
    <p:sldLayoutId xmlns:r="http://schemas.openxmlformats.org/officeDocument/2006/relationships" id="2147483651" r:id="R8cf90420f6a94387"/>
    <p:sldLayoutId xmlns:r="http://schemas.openxmlformats.org/officeDocument/2006/relationships" id="2147483652" r:id="R874e4a56ea454ff7"/>
    <p:sldLayoutId xmlns:r="http://schemas.openxmlformats.org/officeDocument/2006/relationships" id="2147483653" r:id="R6a9c6cab3e054a03"/>
    <p:sldLayoutId xmlns:r="http://schemas.openxmlformats.org/officeDocument/2006/relationships" id="2147483654" r:id="Re2402cebbf4c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962ba594d4568" /><Relationship Type="http://schemas.openxmlformats.org/officeDocument/2006/relationships/notesSlide" Target="/ppt/notesSlides/notesSlide1.xml" Id="R8550b826de0d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9B5FBC5-0934-466C-9738-8D04384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73D35"/>
                </a:solidFill>
                <a:latin typeface="Nimbus Sans"/>
                <a:ea typeface="Nimbus Sans"/>
                <a:cs typeface="Nimbus Sans"/>
              </a:rPr>
              <a:t>What if you start at 40?</a:t>
            </a:r>
          </a:p>
        </p:txBody>
      </p:sp>
      <p:sp>
        <p:nvSpPr>
          <p:cNvPr id="2" name="setup">
            <a:extLst xmlns:a="http://schemas.openxmlformats.org/drawingml/2006/main">
              <a:ext uri="{FF2B5EF4-FFF2-40B4-BE49-F238E27FC236}">
                <a16:creationId xmlns:a16="http://schemas.microsoft.com/office/drawing/2014/main" id="{0A61A29A-0932-4B48-AF9F-E801D83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173D35"/>
                </a:solidFill>
                <a:latin typeface="Nimbus Sans"/>
                <a:ea typeface="Nimbus Sans"/>
                <a:cs typeface="Nimbus Sans"/>
              </a:rPr>
              <a:t>Imagine two adults each invest $1,000 and leave it until age 60.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E4682-1521-4814-821B-79EC99C74B59}"/>
              </a:ext>
            </a:extLst>
          </p:cNvPr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19450"/>
                <a:gridCol w="3219450"/>
              </a:tblGrid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6F1E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CF"/>
                      </a:solidFill>
                      <a:prstDash val="solid"/>
                    </a:lnL>
                    <a:lnR w="9525">
                      <a:solidFill>
                        <a:srgbClr val="D4D8CF"/>
                      </a:solidFill>
                      <a:prstDash val="solid"/>
                    </a:lnR>
                    <a:lnT w="9525">
                      <a:solidFill>
                        <a:srgbClr val="D4D8CF"/>
                      </a:solidFill>
                      <a:prstDash val="solid"/>
                    </a:lnT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6F1E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Starting at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T w="9525">
                      <a:solidFill>
                        <a:srgbClr val="D4D8CF"/>
                      </a:solidFill>
                      <a:prstDash val="solid"/>
                    </a:lnT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6F1E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Starting at 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T w="9525">
                      <a:solidFill>
                        <a:srgbClr val="D4D8CF"/>
                      </a:solidFill>
                      <a:prstDash val="solid"/>
                    </a:lnT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Time to grow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CF"/>
                      </a:solidFill>
                      <a:prstDash val="solid"/>
                    </a:lnL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 years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 years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Amount at age 60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CF"/>
                      </a:solidFill>
                      <a:prstDash val="solid"/>
                    </a:lnL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About $7,040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73D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About $2,653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CF"/>
                      </a:solidFill>
                      <a:prstDash val="solid"/>
                    </a:lnR>
                    <a:lnB w="9525">
                      <a:solidFill>
                        <a:srgbClr val="D4D8C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97E1A853-1704-4D1D-81DF-1559CD8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rPr>
              <a:t>Starting earlier gives money more time to grow.</a:t>
            </a:r>
          </a:p>
          <a:p xmlns:a="http://schemas.openxmlformats.org/drawingml/2006/main">
            <a:pPr>
              <a:def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AE4228"/>
                </a:solidFill>
                <a:latin typeface="Nimbus Sans"/>
                <a:ea typeface="Nimbus Sans"/>
                <a:cs typeface="Nimbus Sans"/>
              </a:rPr>
              <a:t>Starting later can still help.</a:t>
            </a:r>
          </a:p>
        </p:txBody>
      </p:sp>
      <p:sp>
        <p:nvSpPr>
          <p:cNvPr id="5" name="assumptions">
            <a:extLst xmlns:a="http://schemas.openxmlformats.org/drawingml/2006/main">
              <a:ext uri="{FF2B5EF4-FFF2-40B4-BE49-F238E27FC236}">
                <a16:creationId xmlns:a16="http://schemas.microsoft.com/office/drawing/2014/main" id="{6F57378B-12FC-4FE1-A342-C6AEF43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rPr>
              <a:t>Pretend example: 5% growth each year, reinvested. No extra deposits, fees, taxes, or inflation.</a:t>
            </a:r>
          </a:p>
          <a:p xmlns:a="http://schemas.openxmlformats.org/drawingml/2006/main">
            <a:pPr>
              <a:def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5655E"/>
                </a:solidFill>
                <a:latin typeface="Nimbus Sans"/>
                <a:ea typeface="Nimbus Sans"/>
                <a:cs typeface="Nimbus Sans"/>
              </a:rPr>
              <a:t>Real investments can lose value. These amounts are not guaranteed.</a:t>
            </a:r>
          </a:p>
        </p:txBody>
      </p:sp>
    </p:spTree>
    <p:extLst>
      <p:ext uri="{BB962C8B-B14F-4D97-AF65-F5344CB8AC3E}">
        <p14:creationId xmlns:p14="http://schemas.microsoft.com/office/powerpoint/2010/main" val="44630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2026-10-29T07:17:10.6100000Z</dcterms:created>
  <dcterms:modified xsi:type="dcterms:W3CDTF">2026-10-29T07:17:10.6100000Z</dcterms:modified>
</coreProperties>
</file>